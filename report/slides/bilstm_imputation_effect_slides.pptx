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6"/>
  </p:notesMasterIdLst>
  <p:sldIdLst>
    <p:sldId id="256" r:id="rId7"/>
    <p:sldId id="257" r:id="rId8"/>
    <p:sldId id="258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1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ucu.ac.ug/" TargetMode="External"/><Relationship Id="rId6" Type="http://schemas.openxmlformats.org/officeDocument/2006/relationships/hyperlink" Target="mailto:info@ucu.ac.ug" TargetMode="External"/><Relationship Id="rId7" Type="http://schemas.openxmlformats.org/officeDocument/2006/relationships/image" Target="../media/image1.png"/><Relationship Id="rId8" Type="http://schemas.openxmlformats.org/officeDocument/2006/relationships/image" Target="../media/image6.png"/><Relationship Id="rId9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6000"/>
              <a:buFont typeface="Trebuchet MS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8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76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838200" y="1687514"/>
            <a:ext cx="10515600" cy="448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91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689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91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689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91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689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solidFill>
            <a:srgbClr val="D7014D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8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76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91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689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solidFill>
            <a:srgbClr val="FFD932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8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76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91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689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3200"/>
              <a:buFont typeface="Trebuchet M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❑"/>
              <a:defRPr sz="3200"/>
            </a:lvl1pPr>
            <a:lvl2pPr marL="914400" lvl="1" indent="-3975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660"/>
              <a:buChar char="❑"/>
              <a:defRPr sz="2800"/>
            </a:lvl2pPr>
            <a:lvl3pPr marL="1371600" lvl="2" indent="-36576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60"/>
              <a:buChar char="❑"/>
              <a:defRPr sz="2400"/>
            </a:lvl3pPr>
            <a:lvl4pPr marL="1828800" lvl="3" indent="-34036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60"/>
              <a:buChar char="❑"/>
              <a:defRPr sz="2000"/>
            </a:lvl4pPr>
            <a:lvl5pPr marL="2286000" lvl="4" indent="-33782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20"/>
              <a:buChar char="❑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3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8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8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6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3200"/>
              <a:buFont typeface="Trebuchet M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3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8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8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6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">
  <p:cSld name="Last Slid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ftr" idx="11"/>
          </p:nvPr>
        </p:nvSpPr>
        <p:spPr>
          <a:xfrm>
            <a:off x="2116899" y="6251714"/>
            <a:ext cx="8129391" cy="46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2" name="Google Shape;72;p9"/>
          <p:cNvGrpSpPr/>
          <p:nvPr/>
        </p:nvGrpSpPr>
        <p:grpSpPr>
          <a:xfrm>
            <a:off x="888267" y="4604423"/>
            <a:ext cx="5551131" cy="1360803"/>
            <a:chOff x="3063490" y="4400284"/>
            <a:chExt cx="5551131" cy="1360803"/>
          </a:xfrm>
        </p:grpSpPr>
        <p:grpSp>
          <p:nvGrpSpPr>
            <p:cNvPr id="73" name="Google Shape;73;p9"/>
            <p:cNvGrpSpPr/>
            <p:nvPr/>
          </p:nvGrpSpPr>
          <p:grpSpPr>
            <a:xfrm>
              <a:off x="4215162" y="4400284"/>
              <a:ext cx="4399459" cy="1360286"/>
              <a:chOff x="3595675" y="3836538"/>
              <a:chExt cx="5247402" cy="1632365"/>
            </a:xfrm>
          </p:grpSpPr>
          <p:pic>
            <p:nvPicPr>
              <p:cNvPr id="74" name="Google Shape;74;p9" descr="facebook instagram whatsapp PNG image with transparent background | TOPpng"/>
              <p:cNvPicPr preferRelativeResize="0"/>
              <p:nvPr/>
            </p:nvPicPr>
            <p:blipFill rotWithShape="1">
              <a:blip r:embed="rId2">
                <a:alphaModFix/>
              </a:blip>
              <a:srcRect r="66494" b="67238"/>
              <a:stretch/>
            </p:blipFill>
            <p:spPr>
              <a:xfrm>
                <a:off x="3693167" y="4915321"/>
                <a:ext cx="249211" cy="259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5" name="Google Shape;75;p9" descr="facebook instagram whatsapp PNG image with transparent background | TOPpng"/>
              <p:cNvPicPr preferRelativeResize="0"/>
              <p:nvPr/>
            </p:nvPicPr>
            <p:blipFill rotWithShape="1">
              <a:blip r:embed="rId3">
                <a:alphaModFix/>
              </a:blip>
              <a:srcRect l="67402" b="69905"/>
              <a:stretch/>
            </p:blipFill>
            <p:spPr>
              <a:xfrm>
                <a:off x="3685804" y="5173122"/>
                <a:ext cx="263933" cy="25916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6" name="Google Shape;76;p9" descr="Round black telephone logo, Telephone Icon, Phone File, electronics, logo,  black And White png | PNGWing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3693167" y="4579064"/>
                <a:ext cx="249209" cy="2591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" name="Google Shape;77;p9"/>
              <p:cNvSpPr txBox="1"/>
              <p:nvPr/>
            </p:nvSpPr>
            <p:spPr>
              <a:xfrm>
                <a:off x="3943860" y="4840719"/>
                <a:ext cx="2964236" cy="332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GB" sz="1200" b="0" i="0" u="none" strike="noStrike" cap="none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@ugandachristianuniversity</a:t>
                </a:r>
                <a:endParaRPr sz="12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78" name="Google Shape;78;p9"/>
              <p:cNvSpPr txBox="1"/>
              <p:nvPr/>
            </p:nvSpPr>
            <p:spPr>
              <a:xfrm>
                <a:off x="6724749" y="4848559"/>
                <a:ext cx="1781016" cy="3693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r>
                  <a:rPr lang="en-GB" sz="1350" b="0" i="0" u="none" strike="noStrike" cap="none">
                    <a:solidFill>
                      <a:srgbClr val="0C0C0C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@</a:t>
                </a:r>
                <a:r>
                  <a:rPr lang="en-GB" sz="1200" b="0" i="0" u="none" strike="noStrike" cap="none">
                    <a:solidFill>
                      <a:srgbClr val="0C0C0C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UCUniversity</a:t>
                </a:r>
                <a:endParaRPr sz="1350" b="0" i="0" u="none" strike="noStrike" cap="none">
                  <a:solidFill>
                    <a:srgbClr val="0C0C0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79" name="Google Shape;79;p9"/>
              <p:cNvSpPr txBox="1"/>
              <p:nvPr/>
            </p:nvSpPr>
            <p:spPr>
              <a:xfrm>
                <a:off x="3961223" y="5136500"/>
                <a:ext cx="3240066" cy="332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GB" sz="1200" b="0" i="0" u="none" strike="noStrike" cap="none">
                    <a:solidFill>
                      <a:srgbClr val="0C0C0C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@UgandaChristianUniversity</a:t>
                </a:r>
                <a:endParaRPr sz="1200" b="0" i="0" u="none" strike="noStrike" cap="none">
                  <a:solidFill>
                    <a:srgbClr val="0C0C0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0" name="Google Shape;80;p9"/>
              <p:cNvSpPr txBox="1"/>
              <p:nvPr/>
            </p:nvSpPr>
            <p:spPr>
              <a:xfrm>
                <a:off x="3619181" y="4118017"/>
                <a:ext cx="5223896" cy="7202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100" b="0" i="0" u="none" strike="noStrike" cap="none">
                    <a:solidFill>
                      <a:srgbClr val="1E4E79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P.O. Box 4 Mukono, Uganda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100" b="0" i="0" u="none" strike="noStrike" cap="none">
                    <a:solidFill>
                      <a:srgbClr val="1E4E79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Tel: 256-312-350800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ts val="1100"/>
                  <a:buFont typeface="Trebuchet MS"/>
                  <a:buNone/>
                </a:pPr>
                <a:r>
                  <a:rPr lang="en-GB" sz="1100" b="0" i="0" u="sng" strike="noStrike" cap="none">
                    <a:solidFill>
                      <a:schemeClr val="hlink"/>
                    </a:solidFill>
                    <a:latin typeface="Trebuchet MS"/>
                    <a:ea typeface="Trebuchet MS"/>
                    <a:cs typeface="Trebuchet MS"/>
                    <a:sym typeface="Trebuchet MS"/>
                    <a:hlinkClick r:id="rId5"/>
                  </a:rPr>
                  <a:t>      https://ucu.ac.ug/</a:t>
                </a:r>
                <a:r>
                  <a:rPr lang="en-GB" sz="1100" b="0" i="0" u="none" strike="noStrike" cap="none">
                    <a:solidFill>
                      <a:srgbClr val="0000FF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 </a:t>
                </a:r>
                <a:r>
                  <a:rPr lang="en-GB" sz="1100" b="0" i="0" u="none" strike="noStrike" cap="none">
                    <a:solidFill>
                      <a:srgbClr val="1E4E79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   Email: </a:t>
                </a:r>
                <a:r>
                  <a:rPr lang="en-GB" sz="1100" b="0" i="0" u="sng" strike="noStrike" cap="none">
                    <a:solidFill>
                      <a:schemeClr val="hlink"/>
                    </a:solidFill>
                    <a:latin typeface="Trebuchet MS"/>
                    <a:ea typeface="Trebuchet MS"/>
                    <a:cs typeface="Trebuchet MS"/>
                    <a:sym typeface="Trebuchet MS"/>
                    <a:hlinkClick r:id="rId6"/>
                  </a:rPr>
                  <a:t>info@ucu.ac.ug</a:t>
                </a:r>
                <a:r>
                  <a:rPr lang="en-GB" sz="1100" b="0" i="0" u="none" strike="noStrike" cap="none">
                    <a:solidFill>
                      <a:srgbClr val="0000FF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.  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9"/>
              <p:cNvSpPr txBox="1"/>
              <p:nvPr/>
            </p:nvSpPr>
            <p:spPr>
              <a:xfrm>
                <a:off x="3595675" y="3836538"/>
                <a:ext cx="4174870" cy="4062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GB" sz="1600" b="1" i="0" u="none" strike="noStrike" cap="none">
                    <a:solidFill>
                      <a:srgbClr val="1E4E79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Uganda Christian University</a:t>
                </a:r>
                <a:endParaRPr sz="1600" b="0" i="0" u="none" strike="noStrike" cap="none">
                  <a:solidFill>
                    <a:srgbClr val="1E4E79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pic>
            <p:nvPicPr>
              <p:cNvPr id="82" name="Google Shape;82;p9" descr="facebook instagram whatsapp PNG image with transparent background | TOPpng"/>
              <p:cNvPicPr preferRelativeResize="0"/>
              <p:nvPr/>
            </p:nvPicPr>
            <p:blipFill rotWithShape="1">
              <a:blip r:embed="rId3">
                <a:alphaModFix/>
              </a:blip>
              <a:srcRect t="34921" r="64675" b="31937"/>
              <a:stretch/>
            </p:blipFill>
            <p:spPr>
              <a:xfrm>
                <a:off x="6492923" y="4908033"/>
                <a:ext cx="260459" cy="25990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83" name="Google Shape;83;p9"/>
            <p:cNvPicPr preferRelativeResize="0"/>
            <p:nvPr/>
          </p:nvPicPr>
          <p:blipFill rotWithShape="1">
            <a:blip r:embed="rId7">
              <a:alphaModFix/>
            </a:blip>
            <a:srcRect l="4177" t="16271" r="77310" b="16736"/>
            <a:stretch/>
          </p:blipFill>
          <p:spPr>
            <a:xfrm>
              <a:off x="3063490" y="4440462"/>
              <a:ext cx="1197778" cy="13206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4" name="Google Shape;84;p9" descr="Red button thank you icon Royalty Free Vector Image"/>
          <p:cNvPicPr preferRelativeResize="0"/>
          <p:nvPr/>
        </p:nvPicPr>
        <p:blipFill rotWithShape="1">
          <a:blip r:embed="rId8">
            <a:alphaModFix/>
          </a:blip>
          <a:srcRect b="13040"/>
          <a:stretch/>
        </p:blipFill>
        <p:spPr>
          <a:xfrm>
            <a:off x="5409985" y="1899157"/>
            <a:ext cx="1825644" cy="17041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9"/>
          <p:cNvGrpSpPr/>
          <p:nvPr/>
        </p:nvGrpSpPr>
        <p:grpSpPr>
          <a:xfrm>
            <a:off x="8223082" y="4505034"/>
            <a:ext cx="4710416" cy="1774757"/>
            <a:chOff x="4261082" y="3159912"/>
            <a:chExt cx="5618294" cy="2129734"/>
          </a:xfrm>
        </p:grpSpPr>
        <p:pic>
          <p:nvPicPr>
            <p:cNvPr id="86" name="Google Shape;86;p9" descr="facebook instagram whatsapp PNG image with transparent background | TOPpng"/>
            <p:cNvPicPr preferRelativeResize="0"/>
            <p:nvPr/>
          </p:nvPicPr>
          <p:blipFill rotWithShape="1">
            <a:blip r:embed="rId2">
              <a:alphaModFix/>
            </a:blip>
            <a:srcRect r="66494" b="67238"/>
            <a:stretch/>
          </p:blipFill>
          <p:spPr>
            <a:xfrm>
              <a:off x="4333142" y="4196730"/>
              <a:ext cx="277638" cy="2887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9" descr="Round black telephone logo, Telephone Icon, Phone File, electronics, logo,  black And White png | PNGWi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362423" y="4497666"/>
              <a:ext cx="245303" cy="2550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88;p9"/>
            <p:cNvSpPr txBox="1"/>
            <p:nvPr/>
          </p:nvSpPr>
          <p:spPr>
            <a:xfrm>
              <a:off x="4629313" y="4929543"/>
              <a:ext cx="2964236" cy="360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89" name="Google Shape;89;p9"/>
            <p:cNvSpPr txBox="1"/>
            <p:nvPr/>
          </p:nvSpPr>
          <p:spPr>
            <a:xfrm>
              <a:off x="4547946" y="4468247"/>
              <a:ext cx="1959178" cy="3139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100" b="0" i="0" u="none" strike="noStrike" cap="none">
                  <a:solidFill>
                    <a:srgbClr val="0000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https://cse.ucu.ac.ug/</a:t>
              </a:r>
              <a:endParaRPr sz="1100" b="0" i="0" u="none" strike="noStrike" cap="non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90" name="Google Shape;90;p9"/>
            <p:cNvSpPr txBox="1"/>
            <p:nvPr/>
          </p:nvSpPr>
          <p:spPr>
            <a:xfrm>
              <a:off x="6285518" y="4170852"/>
              <a:ext cx="1750610" cy="3324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GB" sz="1200" b="0" i="0" u="none" strike="noStrike" cap="none">
                  <a:solidFill>
                    <a:srgbClr val="0C0C0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@ucu_ComputEng</a:t>
              </a:r>
              <a:endParaRPr sz="1200" b="0" i="0" u="none" strike="noStrike" cap="none">
                <a:solidFill>
                  <a:srgbClr val="0C0C0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91" name="Google Shape;91;p9"/>
            <p:cNvSpPr txBox="1"/>
            <p:nvPr/>
          </p:nvSpPr>
          <p:spPr>
            <a:xfrm>
              <a:off x="4547946" y="4152767"/>
              <a:ext cx="1581881" cy="3139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100" b="0" i="0" u="none" strike="noStrike" cap="none">
                  <a:solidFill>
                    <a:srgbClr val="0C0C0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@ucucomputeng</a:t>
              </a:r>
              <a:endParaRPr sz="1100" b="0" i="0" u="none" strike="noStrike" cap="none">
                <a:solidFill>
                  <a:srgbClr val="0C0C0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92" name="Google Shape;92;p9"/>
            <p:cNvSpPr txBox="1"/>
            <p:nvPr/>
          </p:nvSpPr>
          <p:spPr>
            <a:xfrm>
              <a:off x="4281392" y="3800378"/>
              <a:ext cx="5597984" cy="3139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100" b="0" i="0" u="none" strike="noStrike" cap="none">
                  <a:solidFill>
                    <a:srgbClr val="1E4E7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Tel: +256 (0) 312 350 863 | WhatsApp: +256 (0) 708 114 300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9"/>
            <p:cNvSpPr txBox="1"/>
            <p:nvPr/>
          </p:nvSpPr>
          <p:spPr>
            <a:xfrm>
              <a:off x="4261082" y="3159912"/>
              <a:ext cx="5597985" cy="6278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GB" sz="1600" b="1" i="0" u="none" strike="noStrike" cap="none">
                  <a:solidFill>
                    <a:srgbClr val="1E4E7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Department of Computing &amp; Technology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GB" sz="1200" b="1" i="0" u="none" strike="noStrike" cap="none">
                  <a:solidFill>
                    <a:srgbClr val="C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FACULTY OF ENGINEERING, DESIGN AND TECHNOLOGY</a:t>
              </a:r>
              <a:endParaRPr sz="1200" b="0" i="0" u="none" strike="noStrike" cap="none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pic>
          <p:nvPicPr>
            <p:cNvPr id="94" name="Google Shape;94;p9" descr="facebook instagram whatsapp PNG image with transparent background | TOPpng"/>
            <p:cNvPicPr preferRelativeResize="0"/>
            <p:nvPr/>
          </p:nvPicPr>
          <p:blipFill rotWithShape="1">
            <a:blip r:embed="rId3">
              <a:alphaModFix/>
            </a:blip>
            <a:srcRect t="34921" r="64675" b="31937"/>
            <a:stretch/>
          </p:blipFill>
          <p:spPr>
            <a:xfrm>
              <a:off x="6070315" y="4226614"/>
              <a:ext cx="301120" cy="3004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5" name="Google Shape;95;p9"/>
          <p:cNvSpPr txBox="1"/>
          <p:nvPr/>
        </p:nvSpPr>
        <p:spPr>
          <a:xfrm>
            <a:off x="10081508" y="5598486"/>
            <a:ext cx="200074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0" i="0" u="none" strike="noStrike" cap="none">
                <a:solidFill>
                  <a:srgbClr val="1E4E79"/>
                </a:solidFill>
                <a:latin typeface="Trebuchet MS"/>
                <a:ea typeface="Trebuchet MS"/>
                <a:cs typeface="Trebuchet MS"/>
                <a:sym typeface="Trebuchet MS"/>
              </a:rPr>
              <a:t>Email: dct-</a:t>
            </a:r>
            <a:r>
              <a:rPr lang="en-GB" sz="1100" b="0" i="0" u="sng" strike="noStrike" cap="non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6"/>
              </a:rPr>
              <a:t>info@ucu.ac.ug</a:t>
            </a:r>
            <a:endParaRPr sz="1100" b="0" i="0" u="none" strike="noStrike" cap="none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6" name="Google Shape;96;p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flipH="1">
            <a:off x="7631107" y="4473507"/>
            <a:ext cx="634564" cy="14074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p9"/>
          <p:cNvCxnSpPr/>
          <p:nvPr/>
        </p:nvCxnSpPr>
        <p:spPr>
          <a:xfrm flipH="1">
            <a:off x="345989" y="4505034"/>
            <a:ext cx="11846011" cy="10501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6000"/>
              <a:buFont typeface="Trebuchet MS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8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76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0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1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1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2"/>
          <p:cNvSpPr txBox="1">
            <a:spLocks noGrp="1"/>
          </p:cNvSpPr>
          <p:nvPr>
            <p:ph type="body" idx="1"/>
          </p:nvPr>
        </p:nvSpPr>
        <p:spPr>
          <a:xfrm rot="5400000">
            <a:off x="3851275" y="-1325561"/>
            <a:ext cx="448945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91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689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2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2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91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689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5" Type="http://schemas.openxmlformats.org/officeDocument/2006/relationships/hyperlink" Target="mailto:info@ucu.ac.ug" TargetMode="External"/><Relationship Id="rId16" Type="http://schemas.openxmlformats.org/officeDocument/2006/relationships/hyperlink" Target="http://www.ucu.ac.ug/" TargetMode="External"/><Relationship Id="rId1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776791" y="0"/>
            <a:ext cx="2415209" cy="73588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4400"/>
              <a:buFont typeface="Trebuchet MS"/>
              <a:buNone/>
              <a:defRPr sz="4400" b="0" i="0" u="none" strike="noStrike" cap="none">
                <a:solidFill>
                  <a:srgbClr val="1F497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838200" y="1687514"/>
            <a:ext cx="10515600" cy="448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7014D"/>
              </a:buClr>
              <a:buSzPts val="2800"/>
              <a:buFont typeface="Noto Sans Symbols"/>
              <a:buChar char="❑"/>
              <a:defRPr sz="2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7338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B3D91"/>
              </a:buClr>
              <a:buSzPts val="2280"/>
              <a:buFont typeface="Noto Sans Symbols"/>
              <a:buChar char="❑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70167"/>
              </a:buClr>
              <a:buSzPts val="1800"/>
              <a:buFont typeface="Noto Sans Symbols"/>
              <a:buChar char="❑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2918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70167"/>
              </a:buClr>
              <a:buSzPts val="1584"/>
              <a:buFont typeface="Noto Sans Symbols"/>
              <a:buChar char="❑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2689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931"/>
              </a:buClr>
              <a:buSzPts val="1548"/>
              <a:buFont typeface="Noto Sans Symbols"/>
              <a:buChar char="❑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838200" y="1508126"/>
            <a:ext cx="11353800" cy="179387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0" y="1508126"/>
            <a:ext cx="838200" cy="179387"/>
          </a:xfrm>
          <a:prstGeom prst="rect">
            <a:avLst/>
          </a:prstGeom>
          <a:solidFill>
            <a:srgbClr val="D70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838200" y="1508125"/>
            <a:ext cx="838200" cy="179387"/>
          </a:xfrm>
          <a:prstGeom prst="rect">
            <a:avLst/>
          </a:prstGeom>
          <a:solidFill>
            <a:srgbClr val="FFD9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" name="Google Shape;16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7" name="Google Shape;17;p1"/>
          <p:cNvSpPr txBox="1">
            <a:spLocks noGrp="1"/>
          </p:cNvSpPr>
          <p:nvPr>
            <p:ph type="ftr" idx="11"/>
          </p:nvPr>
        </p:nvSpPr>
        <p:spPr>
          <a:xfrm>
            <a:off x="2116899" y="6251714"/>
            <a:ext cx="8129391" cy="46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8" name="Google Shape;18;p1"/>
          <p:cNvSpPr txBox="1"/>
          <p:nvPr/>
        </p:nvSpPr>
        <p:spPr>
          <a:xfrm>
            <a:off x="2116899" y="6356350"/>
            <a:ext cx="751742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GB" sz="850" b="1" i="0" u="none" strike="noStrike" cap="none">
                <a:solidFill>
                  <a:srgbClr val="0B3D91"/>
                </a:solidFill>
                <a:latin typeface="Trebuchet MS"/>
                <a:ea typeface="Trebuchet MS"/>
                <a:cs typeface="Trebuchet MS"/>
                <a:sym typeface="Trebuchet MS"/>
              </a:rPr>
              <a:t>A Complete Education for A Complete Person</a:t>
            </a:r>
            <a:br>
              <a:rPr lang="en-GB" sz="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GB" sz="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P.O. Box 4, Mukono, Uganda, Plot 67-173, Bishop Tucker Road, Mukono Hill | Tel: +256 (0) 312 350 800 Email: </a:t>
            </a:r>
            <a:r>
              <a:rPr lang="en-GB" sz="700" b="0" i="0" u="sng" strike="noStrike" cap="non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15"/>
              </a:rPr>
              <a:t>info@ucu.ac.ug</a:t>
            </a:r>
            <a:r>
              <a:rPr lang="en-GB" sz="700" b="0" i="0" u="none" strike="noStrike" cap="non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GB" sz="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Web: </a:t>
            </a:r>
            <a:r>
              <a:rPr lang="en-GB" sz="700" b="0" i="0" u="sng" strike="noStrike" cap="non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https://</a:t>
            </a:r>
            <a:r>
              <a:rPr lang="en-GB" sz="700" b="0" i="0" u="sng" strike="noStrike" cap="non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16"/>
              </a:rPr>
              <a:t>ucu.ac.ug</a:t>
            </a:r>
            <a:endParaRPr sz="700" b="0" i="0" u="sng" strike="noStrike" cap="none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-GB" sz="65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Founded by the Province of the Church of Uganda. Chartered by the Government of Uganda</a:t>
            </a:r>
            <a:endParaRPr sz="65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9" name="Google Shape;19;p1"/>
          <p:cNvCxnSpPr/>
          <p:nvPr/>
        </p:nvCxnSpPr>
        <p:spPr>
          <a:xfrm>
            <a:off x="0" y="6395027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D70167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0" name="Google Shape;20;p1"/>
          <p:cNvPicPr preferRelativeResize="0"/>
          <p:nvPr/>
        </p:nvPicPr>
        <p:blipFill rotWithShape="1">
          <a:blip r:embed="rId17">
            <a:alphaModFix/>
          </a:blip>
          <a:srcRect b="42643"/>
          <a:stretch/>
        </p:blipFill>
        <p:spPr>
          <a:xfrm>
            <a:off x="0" y="5412967"/>
            <a:ext cx="1162289" cy="144503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65760"/>
            <a:ext cx="9509760" cy="1143000"/>
          </a:xfrm>
        </p:spPr>
        <p:txBody>
          <a:bodyPr/>
          <a:lstStyle/>
          <a:p>
            <a:r>
              <a:rPr sz="3200"/>
              <a:t>Did the BiLSTM imputer improve training?</a:t>
            </a:r>
          </a:p>
        </p:txBody>
      </p:sp>
      <p:pic>
        <p:nvPicPr>
          <p:cNvPr id="3" name="Picture 2" descr="brits_training_effect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11064240" cy="3229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50749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/>
              <a:t>Five models were retrained on weather filled by each imputation method, under three validation setups.</a:t>
            </a:r>
          </a:p>
          <a:p>
            <a:pPr>
              <a:spcAft>
                <a:spcPts val="800"/>
              </a:spcAft>
            </a:pPr>
            <a:r>
              <a:rPr sz="1600"/>
              <a:t>Within each model the three bars are almost level: the imputation method barely changes the prediction error.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65760"/>
            <a:ext cx="9509760" cy="1143000"/>
          </a:xfrm>
        </p:spPr>
        <p:txBody>
          <a:bodyPr/>
          <a:lstStyle/>
          <a:p>
            <a:r>
              <a:rPr sz="3200"/>
              <a:t>BiLSTM imputer against time-of-day imputation</a:t>
            </a:r>
          </a:p>
        </p:txBody>
      </p:sp>
      <p:pic>
        <p:nvPicPr>
          <p:cNvPr id="3" name="Picture 2" descr="brits_training_effect_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7223759" cy="36808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3840" y="17373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/>
              <a:t>Mean change in MAE: −0.4 %</a:t>
            </a:r>
          </a:p>
          <a:p>
            <a:pPr>
              <a:spcAft>
                <a:spcPts val="800"/>
              </a:spcAft>
            </a:pPr>
            <a:r>
              <a:rPr sz="1600"/>
              <a:t>Helped in 7 of 15 cases</a:t>
            </a:r>
          </a:p>
          <a:p>
            <a:pPr>
              <a:spcAft>
                <a:spcPts val="800"/>
              </a:spcAft>
            </a:pPr>
            <a:r>
              <a:rPr sz="1600"/>
              <a:t>Helped the LSTMs on the hold-out: 10.89 → 9.48 and 12.22 → 11.56 µg/m³</a:t>
            </a:r>
          </a:p>
          <a:p>
            <a:pPr>
              <a:spcAft>
                <a:spcPts val="800"/>
              </a:spcAft>
            </a:pPr>
            <a:r>
              <a:rPr sz="1600"/>
              <a:t>Hurt the SVR in the expanding-window CV: 14.68 → 16.35 µg/m³</a:t>
            </a:r>
          </a:p>
          <a:p>
            <a:pPr>
              <a:spcAft>
                <a:spcPts val="800"/>
              </a:spcAft>
            </a:pPr>
            <a:r>
              <a:rPr sz="1600"/>
              <a:t>Everything else changed by about 1 % or less</a:t>
            </a:r>
          </a:p>
          <a:p>
            <a:pPr>
              <a:spcAft>
                <a:spcPts val="800"/>
              </a:spcAft>
            </a:pPr>
            <a:r>
              <a:rPr sz="1600"/>
              <a:t>As an imputer it is better: 21 % lower error on hidden values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65760"/>
            <a:ext cx="9509760" cy="1143000"/>
          </a:xfrm>
        </p:spPr>
        <p:txBody>
          <a:bodyPr/>
          <a:lstStyle/>
          <a:p>
            <a:r>
              <a:rPr sz="3200"/>
              <a:t>Decision: final models use time-of-day imputation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The BiLSTM (BRITS-style) imputer is kept in the notebook as a tested method; the final models are not retrained on its values.</a:t>
            </a:r>
          </a:p>
          <a:p>
            <a:r>
              <a:rPr sz="1800"/>
              <a:t>No reliable benefit: −0.4 % MAE on average, better in 7 of 15 cases.</a:t>
            </a:r>
          </a:p>
          <a:p>
            <a:r>
              <a:rPr sz="1800"/>
              <a:t>It only fills temperature and humidity, which are minor inputs for the models (SHAP).</a:t>
            </a:r>
          </a:p>
          <a:p>
            <a:r>
              <a:rPr sz="1800"/>
              <a:t>The LSTMs improved, but stay behind LightGBM + PM2.5 history (8.43 µg/m³): the best model does not change.</a:t>
            </a:r>
          </a:p>
          <a:p>
            <a:r>
              <a:rPr sz="1800"/>
              <a:t>It must be retrained for every split and would add a neural network to serving; time-of-day needs no training.</a:t>
            </a:r>
          </a:p>
          <a:p>
            <a:r>
              <a:rPr sz="1800"/>
              <a:t>PM2.5 is never imputed for training or scoring.</a:t>
            </a:r>
          </a:p>
          <a:p>
            <a:r>
              <a:rPr sz="1800"/>
              <a:t>Revisit if weather becomes a stronger predictor or if 6 to 12 hour gaps become common.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edian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1534</Words>
  <Application>Microsoft Office PowerPoint</Application>
  <PresentationFormat>Widescreen</PresentationFormat>
  <Paragraphs>182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Noto Sans Symbols</vt:lpstr>
      <vt:lpstr>Trebuchet MS</vt:lpstr>
      <vt:lpstr>Office Theme</vt:lpstr>
      <vt:lpstr>PowerPoint Presentation</vt:lpstr>
      <vt:lpstr>Lecture Objectives and Learning outcomes</vt:lpstr>
      <vt:lpstr>Lecture Overview</vt:lpstr>
      <vt:lpstr>What is Software Metrics?</vt:lpstr>
      <vt:lpstr>Size Oriented Metrics</vt:lpstr>
      <vt:lpstr>Size Oriented Metrics cont.</vt:lpstr>
      <vt:lpstr>Halstead’s Software Metrics</vt:lpstr>
      <vt:lpstr>Halstead Metrics cont.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Charis Opol</cp:lastModifiedBy>
  <cp:revision>1</cp:revision>
  <dcterms:modified xsi:type="dcterms:W3CDTF">2025-09-30T12:35:12Z</dcterms:modified>
</cp:coreProperties>
</file>